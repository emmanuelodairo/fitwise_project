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sldIdLst>
    <p:sldId id="256" r:id="rId2"/>
    <p:sldId id="265" r:id="rId3"/>
    <p:sldId id="257" r:id="rId4"/>
    <p:sldId id="258" r:id="rId5"/>
    <p:sldId id="279" r:id="rId6"/>
    <p:sldId id="280" r:id="rId7"/>
    <p:sldId id="281" r:id="rId8"/>
    <p:sldId id="275" r:id="rId9"/>
    <p:sldId id="277" r:id="rId10"/>
    <p:sldId id="282" r:id="rId11"/>
    <p:sldId id="272"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snapToObjects="1">
      <p:cViewPr varScale="1">
        <p:scale>
          <a:sx n="64" d="100"/>
          <a:sy n="64" d="100"/>
        </p:scale>
        <p:origin x="159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9314" y="596019"/>
            <a:ext cx="7510506" cy="3213982"/>
          </a:xfrm>
        </p:spPr>
        <p:txBody>
          <a:bodyPr anchor="b">
            <a:normAutofit/>
          </a:bodyPr>
          <a:lstStyle>
            <a:lvl1pPr algn="ctr">
              <a:defRPr sz="40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819314" y="3886200"/>
            <a:ext cx="7510506" cy="2219108"/>
          </a:xfrm>
        </p:spPr>
        <p:txBody>
          <a:bodyPr anchor="t">
            <a:normAutofit/>
          </a:bodyPr>
          <a:lstStyle>
            <a:lvl1pPr marL="0" indent="0" algn="ctr">
              <a:buNone/>
              <a:defRPr sz="1800">
                <a:gradFill flip="none" rotWithShape="1">
                  <a:gsLst>
                    <a:gs pos="0">
                      <a:schemeClr val="tx1"/>
                    </a:gs>
                    <a:gs pos="100000">
                      <a:schemeClr val="tx1">
                        <a:lumMod val="75000"/>
                      </a:schemeClr>
                    </a:gs>
                  </a:gsLst>
                  <a:lin ang="0" scaled="1"/>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7558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5333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9314" y="3270698"/>
            <a:ext cx="7510506" cy="1823305"/>
          </a:xfrm>
        </p:spPr>
        <p:txBody>
          <a:bodyPr anchor="b">
            <a:normAutofit/>
          </a:bodyPr>
          <a:lstStyle>
            <a:lvl1pPr algn="r">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19314" y="5103810"/>
            <a:ext cx="7510506" cy="998250"/>
          </a:xfrm>
        </p:spPr>
        <p:txBody>
          <a:bodyPr anchor="t">
            <a:normAutofit/>
          </a:bodyPr>
          <a:lstStyle>
            <a:lvl1pPr marL="0" indent="0" algn="r">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264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347" y="2060898"/>
            <a:ext cx="3685073" cy="4031331"/>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060898"/>
            <a:ext cx="3689239" cy="403133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5691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6306" y="2060898"/>
            <a:ext cx="3397113" cy="733596"/>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8347" y="2786027"/>
            <a:ext cx="3685073"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10150" y="2060898"/>
            <a:ext cx="3419670" cy="725129"/>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65" y="2786027"/>
            <a:ext cx="3701520"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9118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6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0487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1430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1754928"/>
            <a:ext cx="2729523" cy="1371600"/>
          </a:xfrm>
        </p:spPr>
        <p:txBody>
          <a:bodyPr anchor="b">
            <a:normAutofit/>
          </a:bodyPr>
          <a:lstStyle>
            <a:lvl1pPr algn="l">
              <a:defRPr sz="2200" b="0"/>
            </a:lvl1pPr>
          </a:lstStyle>
          <a:p>
            <a:r>
              <a:rPr lang="en-US"/>
              <a:t>Click to edit Master title style</a:t>
            </a:r>
            <a:endParaRPr lang="en-US" dirty="0"/>
          </a:p>
        </p:txBody>
      </p:sp>
      <p:sp>
        <p:nvSpPr>
          <p:cNvPr id="3" name="Content Placeholder 2"/>
          <p:cNvSpPr>
            <a:spLocks noGrp="1"/>
          </p:cNvSpPr>
          <p:nvPr>
            <p:ph idx="1"/>
          </p:nvPr>
        </p:nvSpPr>
        <p:spPr>
          <a:xfrm>
            <a:off x="3828856" y="596018"/>
            <a:ext cx="4500964" cy="5506041"/>
          </a:xfrm>
        </p:spPr>
        <p:txBody>
          <a:bodyPr anchor="ctr">
            <a:normAutofit/>
          </a:bodyPr>
          <a:lstStyle>
            <a:lvl1pPr>
              <a:defRPr sz="1800"/>
            </a:lvl1pPr>
            <a:lvl2pPr>
              <a:defRPr sz="1600"/>
            </a:lvl2pPr>
            <a:lvl3pPr>
              <a:defRPr sz="1400"/>
            </a:lvl3pPr>
            <a:lvl4pPr>
              <a:defRPr sz="12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8347" y="3126528"/>
            <a:ext cx="272952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2874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1898269"/>
            <a:ext cx="4423803"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515442" y="-18288"/>
            <a:ext cx="2500062"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17318" y="3269869"/>
            <a:ext cx="442380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23649" y="6181344"/>
            <a:ext cx="718502" cy="365125"/>
          </a:xfrm>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a:xfrm>
            <a:off x="818348" y="6181344"/>
            <a:ext cx="3705300" cy="365125"/>
          </a:xfrm>
        </p:spPr>
        <p:txBody>
          <a:bodyPr/>
          <a:lstStyle/>
          <a:p>
            <a:endParaRPr lang="en-US"/>
          </a:p>
        </p:txBody>
      </p:sp>
      <p:sp>
        <p:nvSpPr>
          <p:cNvPr id="7" name="Slide Number Placeholder 6"/>
          <p:cNvSpPr>
            <a:spLocks noGrp="1"/>
          </p:cNvSpPr>
          <p:nvPr>
            <p:ph type="sldNum" sz="quarter" idx="12"/>
          </p:nvPr>
        </p:nvSpPr>
        <p:spPr>
          <a:xfrm>
            <a:off x="8024262" y="6181344"/>
            <a:ext cx="305186" cy="32925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24684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677" y="4377485"/>
            <a:ext cx="7413007" cy="907505"/>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7678" y="996188"/>
            <a:ext cx="7301427" cy="298112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7677" y="5284990"/>
            <a:ext cx="7413007" cy="81707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a:xfrm>
            <a:off x="917678" y="6181344"/>
            <a:ext cx="5337278" cy="365125"/>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5764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596018"/>
            <a:ext cx="7511474" cy="3137782"/>
          </a:xfrm>
        </p:spPr>
        <p:txBody>
          <a:bodyPr anchor="ctr">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18347" y="4343400"/>
            <a:ext cx="7511474" cy="1758660"/>
          </a:xfrm>
        </p:spPr>
        <p:txBody>
          <a:bodyPr anchor="ctr">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0465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583818" y="860276"/>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7888822" y="29859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3044079"/>
          </a:xfrm>
        </p:spPr>
        <p:txBody>
          <a:bodyPr anchor="ctr">
            <a:normAutofit/>
          </a:bodyPr>
          <a:lstStyle>
            <a:lvl1pPr algn="l">
              <a:defRPr sz="28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436" y="3650606"/>
            <a:ext cx="6631128" cy="381000"/>
          </a:xfrm>
        </p:spPr>
        <p:txBody>
          <a:bodyPr anchor="ctr">
            <a:normAutofit/>
          </a:bodyPr>
          <a:lstStyle>
            <a:lvl1pPr marL="0" indent="0">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8347" y="4641206"/>
            <a:ext cx="7511473" cy="1447800"/>
          </a:xfrm>
        </p:spPr>
        <p:txBody>
          <a:bodyPr anchor="ctr">
            <a:normAutofit/>
          </a:bodyPr>
          <a:lstStyle>
            <a:lvl1pPr marL="0" indent="0" algn="l">
              <a:buNone/>
              <a:defRPr sz="1800">
                <a:gradFill flip="none" rotWithShape="1">
                  <a:gsLst>
                    <a:gs pos="0">
                      <a:schemeClr val="tx1"/>
                    </a:gs>
                    <a:gs pos="100000">
                      <a:schemeClr val="tx1">
                        <a:lumMod val="75000"/>
                      </a:schemeClr>
                    </a:gs>
                  </a:gsLst>
                  <a:lin ang="0" scaled="1"/>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8158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8347" y="3603566"/>
            <a:ext cx="7512338" cy="1468800"/>
          </a:xfrm>
        </p:spPr>
        <p:txBody>
          <a:bodyPr anchor="b">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21015" y="5072366"/>
            <a:ext cx="7512339" cy="1029694"/>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99199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extBox 12"/>
          <p:cNvSpPr txBox="1"/>
          <p:nvPr/>
        </p:nvSpPr>
        <p:spPr>
          <a:xfrm>
            <a:off x="583818" y="75385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6" name="TextBox 15"/>
          <p:cNvSpPr txBox="1"/>
          <p:nvPr/>
        </p:nvSpPr>
        <p:spPr>
          <a:xfrm>
            <a:off x="7887556" y="2879498"/>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2844369"/>
          </a:xfrm>
        </p:spPr>
        <p:txBody>
          <a:bodyPr anchor="ctr">
            <a:normAutofit/>
          </a:bodyPr>
          <a:lstStyle>
            <a:lvl1pPr algn="l">
              <a:defRPr sz="28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18347" y="3886200"/>
            <a:ext cx="7512338" cy="1053662"/>
          </a:xfrm>
        </p:spPr>
        <p:txBody>
          <a:bodyPr vert="horz" lIns="91440" tIns="45720" rIns="91440" bIns="45720" rtlCol="0" anchor="b">
            <a:normAutofit/>
          </a:bodyPr>
          <a:lstStyle>
            <a:lvl1pPr>
              <a:buNone/>
              <a:defRPr lang="en-US" sz="2000" b="0" cap="all" dirty="0">
                <a:ln w="3175" cmpd="sng">
                  <a:noFill/>
                </a:ln>
                <a:gradFill flip="none" rotWithShape="1">
                  <a:gsLst>
                    <a:gs pos="0">
                      <a:schemeClr val="tx1"/>
                    </a:gs>
                    <a:gs pos="100000">
                      <a:schemeClr val="tx1">
                        <a:lumMod val="75000"/>
                      </a:schemeClr>
                    </a:gs>
                  </a:gsLst>
                  <a:lin ang="0" scaled="1"/>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18347" y="4939862"/>
            <a:ext cx="7512338" cy="1162198"/>
          </a:xfrm>
        </p:spPr>
        <p:txBody>
          <a:bodyPr anchor="t">
            <a:normAutofit/>
          </a:bodyPr>
          <a:lstStyle>
            <a:lvl1pPr marL="0" indent="0" algn="l">
              <a:buNone/>
              <a:defRPr sz="1600">
                <a:gradFill flip="none" rotWithShape="1">
                  <a:gsLst>
                    <a:gs pos="0">
                      <a:schemeClr val="tx1"/>
                    </a:gs>
                    <a:gs pos="100000">
                      <a:schemeClr val="tx1">
                        <a:lumMod val="75000"/>
                      </a:schemeClr>
                    </a:gs>
                  </a:gsLst>
                  <a:lin ang="5400000" scaled="0"/>
                  <a:tileRect/>
                </a:gra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7977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18346" y="596018"/>
            <a:ext cx="7511473" cy="2756783"/>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818346" y="3682941"/>
            <a:ext cx="7511473" cy="1049283"/>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18347" y="4732224"/>
            <a:ext cx="7511472" cy="1369836"/>
          </a:xfrm>
        </p:spPr>
        <p:txBody>
          <a:bodyPr anchor="t">
            <a:normAutofit/>
          </a:bodyPr>
          <a:lstStyle>
            <a:lvl1pPr marL="0" indent="0" algn="l">
              <a:buNone/>
              <a:defRPr sz="1600">
                <a:gradFill flip="none" rotWithShape="1">
                  <a:gsLst>
                    <a:gs pos="0">
                      <a:schemeClr val="tx1"/>
                    </a:gs>
                    <a:gs pos="100000">
                      <a:schemeClr val="tx1">
                        <a:lumMod val="75000"/>
                      </a:schemeClr>
                    </a:gs>
                  </a:gsLst>
                  <a:lin ang="5400000" scaled="0"/>
                  <a:tileRect/>
                </a:gra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20608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818347" y="596018"/>
            <a:ext cx="7511473" cy="131248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73908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1708" y="596018"/>
            <a:ext cx="1778112" cy="550604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8347" y="596018"/>
            <a:ext cx="5624137" cy="550604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3380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8347" y="596018"/>
            <a:ext cx="7511473" cy="13124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18348" y="2060898"/>
            <a:ext cx="7511472" cy="404116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51708" y="6178260"/>
            <a:ext cx="1287464"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5BCAD085-E8A6-8845-BD4E-CB4CCA059FC4}" type="datetimeFigureOut">
              <a:rPr lang="en-US" smtClean="0"/>
              <a:t>4/14/2026</a:t>
            </a:fld>
            <a:endParaRPr lang="en-US"/>
          </a:p>
        </p:txBody>
      </p:sp>
      <p:sp>
        <p:nvSpPr>
          <p:cNvPr id="5" name="Footer Placeholder 4"/>
          <p:cNvSpPr>
            <a:spLocks noGrp="1"/>
          </p:cNvSpPr>
          <p:nvPr>
            <p:ph type="ftr" sz="quarter" idx="3"/>
          </p:nvPr>
        </p:nvSpPr>
        <p:spPr>
          <a:xfrm>
            <a:off x="818347" y="6178260"/>
            <a:ext cx="5624137" cy="365125"/>
          </a:xfrm>
          <a:prstGeom prst="rect">
            <a:avLst/>
          </a:prstGeom>
        </p:spPr>
        <p:txBody>
          <a:bodyPr vert="horz" lIns="91440" tIns="45720" rIns="91440" bIns="45720" rtlCol="0" anchor="ctr"/>
          <a:lstStyle>
            <a:lvl1pPr algn="l">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7917202" y="6178260"/>
            <a:ext cx="413483"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1879285"/>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457200" rtl="0" eaLnBrk="1" latinLnBrk="0" hangingPunct="1">
        <a:spcBef>
          <a:spcPct val="0"/>
        </a:spcBef>
        <a:buNone/>
        <a:defRPr sz="2800"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30000"/>
        <a:buFont typeface="Arial"/>
        <a:buChar char="•"/>
        <a:defRPr sz="18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30000"/>
        <a:buFont typeface="Arial"/>
        <a:buChar char="•"/>
        <a:defRPr sz="16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30000"/>
        <a:buFont typeface="Arial"/>
        <a:buChar char="•"/>
        <a:defRPr sz="1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30000"/>
        <a:buFont typeface="Arial"/>
        <a:buChar char="•"/>
        <a:defRPr sz="1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30000"/>
        <a:buFont typeface="Arial"/>
        <a:buChar char="•"/>
        <a:defRPr sz="12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90F3EE-0CD1-4520-B020-4E1DF3141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EFDE1E9-7FE0-45CA-9DE2-237F77319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2270840"/>
          </a:xfrm>
          <a:custGeom>
            <a:avLst/>
            <a:gdLst>
              <a:gd name="connsiteX0" fmla="*/ 0 w 12192000"/>
              <a:gd name="connsiteY0" fmla="*/ 0 h 2270840"/>
              <a:gd name="connsiteX1" fmla="*/ 12192000 w 12192000"/>
              <a:gd name="connsiteY1" fmla="*/ 0 h 2270840"/>
              <a:gd name="connsiteX2" fmla="*/ 12192000 w 12192000"/>
              <a:gd name="connsiteY2" fmla="*/ 519831 h 2270840"/>
              <a:gd name="connsiteX3" fmla="*/ 12192000 w 12192000"/>
              <a:gd name="connsiteY3" fmla="*/ 744794 h 2270840"/>
              <a:gd name="connsiteX4" fmla="*/ 12192000 w 12192000"/>
              <a:gd name="connsiteY4" fmla="*/ 1754022 h 2270840"/>
              <a:gd name="connsiteX5" fmla="*/ 11957522 w 12192000"/>
              <a:gd name="connsiteY5" fmla="*/ 1797924 h 2270840"/>
              <a:gd name="connsiteX6" fmla="*/ 11679973 w 12192000"/>
              <a:gd name="connsiteY6" fmla="*/ 1847668 h 2270840"/>
              <a:gd name="connsiteX7" fmla="*/ 11401197 w 12192000"/>
              <a:gd name="connsiteY7" fmla="*/ 1896361 h 2270840"/>
              <a:gd name="connsiteX8" fmla="*/ 11121192 w 12192000"/>
              <a:gd name="connsiteY8" fmla="*/ 1938047 h 2270840"/>
              <a:gd name="connsiteX9" fmla="*/ 10842416 w 12192000"/>
              <a:gd name="connsiteY9" fmla="*/ 1980084 h 2270840"/>
              <a:gd name="connsiteX10" fmla="*/ 10562411 w 12192000"/>
              <a:gd name="connsiteY10" fmla="*/ 2019319 h 2270840"/>
              <a:gd name="connsiteX11" fmla="*/ 10286091 w 12192000"/>
              <a:gd name="connsiteY11" fmla="*/ 2052948 h 2270840"/>
              <a:gd name="connsiteX12" fmla="*/ 10006086 w 12192000"/>
              <a:gd name="connsiteY12" fmla="*/ 2084826 h 2270840"/>
              <a:gd name="connsiteX13" fmla="*/ 9727310 w 12192000"/>
              <a:gd name="connsiteY13" fmla="*/ 2113902 h 2270840"/>
              <a:gd name="connsiteX14" fmla="*/ 9453445 w 12192000"/>
              <a:gd name="connsiteY14" fmla="*/ 2139124 h 2270840"/>
              <a:gd name="connsiteX15" fmla="*/ 9175897 w 12192000"/>
              <a:gd name="connsiteY15" fmla="*/ 2164346 h 2270840"/>
              <a:gd name="connsiteX16" fmla="*/ 8902033 w 12192000"/>
              <a:gd name="connsiteY16" fmla="*/ 2185365 h 2270840"/>
              <a:gd name="connsiteX17" fmla="*/ 8628169 w 12192000"/>
              <a:gd name="connsiteY17" fmla="*/ 2201829 h 2270840"/>
              <a:gd name="connsiteX18" fmla="*/ 8355533 w 12192000"/>
              <a:gd name="connsiteY18" fmla="*/ 2218995 h 2270840"/>
              <a:gd name="connsiteX19" fmla="*/ 8085353 w 12192000"/>
              <a:gd name="connsiteY19" fmla="*/ 2233357 h 2270840"/>
              <a:gd name="connsiteX20" fmla="*/ 7817629 w 12192000"/>
              <a:gd name="connsiteY20" fmla="*/ 2243516 h 2270840"/>
              <a:gd name="connsiteX21" fmla="*/ 7549905 w 12192000"/>
              <a:gd name="connsiteY21" fmla="*/ 2252274 h 2270840"/>
              <a:gd name="connsiteX22" fmla="*/ 7284638 w 12192000"/>
              <a:gd name="connsiteY22" fmla="*/ 2260681 h 2270840"/>
              <a:gd name="connsiteX23" fmla="*/ 7023055 w 12192000"/>
              <a:gd name="connsiteY23" fmla="*/ 2264535 h 2270840"/>
              <a:gd name="connsiteX24" fmla="*/ 6761472 w 12192000"/>
              <a:gd name="connsiteY24" fmla="*/ 2268738 h 2270840"/>
              <a:gd name="connsiteX25" fmla="*/ 6503573 w 12192000"/>
              <a:gd name="connsiteY25" fmla="*/ 2270840 h 2270840"/>
              <a:gd name="connsiteX26" fmla="*/ 6248130 w 12192000"/>
              <a:gd name="connsiteY26" fmla="*/ 2268738 h 2270840"/>
              <a:gd name="connsiteX27" fmla="*/ 5995144 w 12192000"/>
              <a:gd name="connsiteY27" fmla="*/ 2268738 h 2270840"/>
              <a:gd name="connsiteX28" fmla="*/ 5744613 w 12192000"/>
              <a:gd name="connsiteY28" fmla="*/ 2264535 h 2270840"/>
              <a:gd name="connsiteX29" fmla="*/ 5498995 w 12192000"/>
              <a:gd name="connsiteY29" fmla="*/ 2258229 h 2270840"/>
              <a:gd name="connsiteX30" fmla="*/ 5255834 w 12192000"/>
              <a:gd name="connsiteY30" fmla="*/ 2252274 h 2270840"/>
              <a:gd name="connsiteX31" fmla="*/ 5017584 w 12192000"/>
              <a:gd name="connsiteY31" fmla="*/ 2245618 h 2270840"/>
              <a:gd name="connsiteX32" fmla="*/ 4780562 w 12192000"/>
              <a:gd name="connsiteY32" fmla="*/ 2235459 h 2270840"/>
              <a:gd name="connsiteX33" fmla="*/ 4547227 w 12192000"/>
              <a:gd name="connsiteY33" fmla="*/ 2224599 h 2270840"/>
              <a:gd name="connsiteX34" fmla="*/ 4318800 w 12192000"/>
              <a:gd name="connsiteY34" fmla="*/ 2214791 h 2270840"/>
              <a:gd name="connsiteX35" fmla="*/ 3873004 w 12192000"/>
              <a:gd name="connsiteY35" fmla="*/ 2187116 h 2270840"/>
              <a:gd name="connsiteX36" fmla="*/ 3445628 w 12192000"/>
              <a:gd name="connsiteY36" fmla="*/ 2157691 h 2270840"/>
              <a:gd name="connsiteX37" fmla="*/ 3035446 w 12192000"/>
              <a:gd name="connsiteY37" fmla="*/ 2126863 h 2270840"/>
              <a:gd name="connsiteX38" fmla="*/ 2647370 w 12192000"/>
              <a:gd name="connsiteY38" fmla="*/ 2092884 h 2270840"/>
              <a:gd name="connsiteX39" fmla="*/ 2276487 w 12192000"/>
              <a:gd name="connsiteY39" fmla="*/ 2057502 h 2270840"/>
              <a:gd name="connsiteX40" fmla="*/ 1932621 w 12192000"/>
              <a:gd name="connsiteY40" fmla="*/ 2019319 h 2270840"/>
              <a:gd name="connsiteX41" fmla="*/ 1609634 w 12192000"/>
              <a:gd name="connsiteY41" fmla="*/ 1981836 h 2270840"/>
              <a:gd name="connsiteX42" fmla="*/ 1312435 w 12192000"/>
              <a:gd name="connsiteY42" fmla="*/ 1944353 h 2270840"/>
              <a:gd name="connsiteX43" fmla="*/ 1039799 w 12192000"/>
              <a:gd name="connsiteY43" fmla="*/ 1908972 h 2270840"/>
              <a:gd name="connsiteX44" fmla="*/ 797865 w 12192000"/>
              <a:gd name="connsiteY44" fmla="*/ 1875342 h 2270840"/>
              <a:gd name="connsiteX45" fmla="*/ 579265 w 12192000"/>
              <a:gd name="connsiteY45" fmla="*/ 1843464 h 2270840"/>
              <a:gd name="connsiteX46" fmla="*/ 395052 w 12192000"/>
              <a:gd name="connsiteY46" fmla="*/ 1816841 h 2270840"/>
              <a:gd name="connsiteX47" fmla="*/ 240312 w 12192000"/>
              <a:gd name="connsiteY47" fmla="*/ 1791618 h 2270840"/>
              <a:gd name="connsiteX48" fmla="*/ 27853 w 12192000"/>
              <a:gd name="connsiteY48" fmla="*/ 1755537 h 2270840"/>
              <a:gd name="connsiteX49" fmla="*/ 0 w 12192000"/>
              <a:gd name="connsiteY49" fmla="*/ 1750824 h 2270840"/>
              <a:gd name="connsiteX50" fmla="*/ 0 w 12192000"/>
              <a:gd name="connsiteY50" fmla="*/ 744794 h 2270840"/>
              <a:gd name="connsiteX51" fmla="*/ 0 w 12192000"/>
              <a:gd name="connsiteY51" fmla="*/ 519831 h 227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270840">
                <a:moveTo>
                  <a:pt x="0" y="0"/>
                </a:moveTo>
                <a:lnTo>
                  <a:pt x="12192000" y="0"/>
                </a:lnTo>
                <a:lnTo>
                  <a:pt x="12192000" y="519831"/>
                </a:lnTo>
                <a:lnTo>
                  <a:pt x="12192000" y="744794"/>
                </a:lnTo>
                <a:lnTo>
                  <a:pt x="12192000" y="1754022"/>
                </a:lnTo>
                <a:lnTo>
                  <a:pt x="11957522" y="1797924"/>
                </a:lnTo>
                <a:lnTo>
                  <a:pt x="11679973" y="1847668"/>
                </a:lnTo>
                <a:lnTo>
                  <a:pt x="11401197" y="1896361"/>
                </a:lnTo>
                <a:lnTo>
                  <a:pt x="11121192" y="1938047"/>
                </a:lnTo>
                <a:lnTo>
                  <a:pt x="10842416" y="1980084"/>
                </a:lnTo>
                <a:lnTo>
                  <a:pt x="10562411" y="2019319"/>
                </a:lnTo>
                <a:lnTo>
                  <a:pt x="10286091" y="2052948"/>
                </a:lnTo>
                <a:lnTo>
                  <a:pt x="10006086" y="2084826"/>
                </a:lnTo>
                <a:lnTo>
                  <a:pt x="9727310" y="2113902"/>
                </a:lnTo>
                <a:lnTo>
                  <a:pt x="9453445" y="2139124"/>
                </a:lnTo>
                <a:lnTo>
                  <a:pt x="9175897" y="2164346"/>
                </a:lnTo>
                <a:lnTo>
                  <a:pt x="8902033" y="2185365"/>
                </a:lnTo>
                <a:lnTo>
                  <a:pt x="8628169" y="2201829"/>
                </a:lnTo>
                <a:lnTo>
                  <a:pt x="8355533" y="2218995"/>
                </a:lnTo>
                <a:lnTo>
                  <a:pt x="8085353" y="2233357"/>
                </a:lnTo>
                <a:lnTo>
                  <a:pt x="7817629" y="2243516"/>
                </a:lnTo>
                <a:lnTo>
                  <a:pt x="7549905" y="2252274"/>
                </a:lnTo>
                <a:lnTo>
                  <a:pt x="7284638" y="2260681"/>
                </a:lnTo>
                <a:lnTo>
                  <a:pt x="7023055" y="2264535"/>
                </a:lnTo>
                <a:lnTo>
                  <a:pt x="6761472" y="2268738"/>
                </a:lnTo>
                <a:lnTo>
                  <a:pt x="6503573" y="2270840"/>
                </a:lnTo>
                <a:lnTo>
                  <a:pt x="6248130" y="2268738"/>
                </a:lnTo>
                <a:lnTo>
                  <a:pt x="5995144" y="2268738"/>
                </a:lnTo>
                <a:lnTo>
                  <a:pt x="5744613" y="2264535"/>
                </a:lnTo>
                <a:lnTo>
                  <a:pt x="5498995" y="2258229"/>
                </a:lnTo>
                <a:lnTo>
                  <a:pt x="5255834" y="2252274"/>
                </a:lnTo>
                <a:lnTo>
                  <a:pt x="5017584" y="2245618"/>
                </a:lnTo>
                <a:lnTo>
                  <a:pt x="4780562" y="2235459"/>
                </a:lnTo>
                <a:lnTo>
                  <a:pt x="4547227" y="2224599"/>
                </a:lnTo>
                <a:lnTo>
                  <a:pt x="4318800" y="2214791"/>
                </a:lnTo>
                <a:lnTo>
                  <a:pt x="3873004" y="2187116"/>
                </a:lnTo>
                <a:lnTo>
                  <a:pt x="3445628" y="2157691"/>
                </a:lnTo>
                <a:lnTo>
                  <a:pt x="3035446" y="2126863"/>
                </a:lnTo>
                <a:lnTo>
                  <a:pt x="2647370" y="2092884"/>
                </a:lnTo>
                <a:lnTo>
                  <a:pt x="2276487" y="2057502"/>
                </a:lnTo>
                <a:lnTo>
                  <a:pt x="1932621" y="2019319"/>
                </a:lnTo>
                <a:lnTo>
                  <a:pt x="1609634" y="1981836"/>
                </a:lnTo>
                <a:lnTo>
                  <a:pt x="1312435" y="1944353"/>
                </a:lnTo>
                <a:lnTo>
                  <a:pt x="1039799" y="1908972"/>
                </a:lnTo>
                <a:lnTo>
                  <a:pt x="797865" y="1875342"/>
                </a:lnTo>
                <a:lnTo>
                  <a:pt x="579265" y="1843464"/>
                </a:lnTo>
                <a:lnTo>
                  <a:pt x="395052" y="1816841"/>
                </a:lnTo>
                <a:lnTo>
                  <a:pt x="240312" y="1791618"/>
                </a:lnTo>
                <a:lnTo>
                  <a:pt x="27853" y="1755537"/>
                </a:lnTo>
                <a:lnTo>
                  <a:pt x="0" y="1750824"/>
                </a:lnTo>
                <a:lnTo>
                  <a:pt x="0" y="744794"/>
                </a:lnTo>
                <a:lnTo>
                  <a:pt x="0" y="519831"/>
                </a:lnTo>
                <a:close/>
              </a:path>
            </a:pathLst>
          </a:custGeom>
          <a:ln w="44450">
            <a:gradFill>
              <a:gsLst>
                <a:gs pos="0">
                  <a:schemeClr val="bg2">
                    <a:alpha val="65000"/>
                  </a:schemeClr>
                </a:gs>
                <a:gs pos="98000">
                  <a:schemeClr val="bg2">
                    <a:lumMod val="75000"/>
                    <a:alpha val="55000"/>
                  </a:schemeClr>
                </a:gs>
              </a:gsLst>
              <a:lin ang="5400000" scaled="1"/>
            </a:gradFill>
          </a:ln>
          <a:effectLst>
            <a:outerShdw blurRad="50800" dist="38100" dir="5400000" algn="t" rotWithShape="0">
              <a:prstClr val="black">
                <a:alpha val="50000"/>
              </a:prstClr>
            </a:outerShdw>
          </a:effectLst>
        </p:spPr>
        <p:style>
          <a:lnRef idx="2">
            <a:schemeClr val="accent1">
              <a:shade val="50000"/>
            </a:schemeClr>
          </a:lnRef>
          <a:fillRef idx="1003">
            <a:schemeClr val="dk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6059" y="609600"/>
            <a:ext cx="7429499" cy="1065451"/>
          </a:xfrm>
        </p:spPr>
        <p:txBody>
          <a:bodyPr>
            <a:normAutofit/>
          </a:bodyPr>
          <a:lstStyle/>
          <a:p>
            <a:pPr algn="ctr"/>
            <a:r>
              <a:rPr lang="en-US" dirty="0">
                <a:solidFill>
                  <a:srgbClr val="BFBFBF"/>
                </a:solidFill>
                <a:effectLst>
                  <a:glow rad="38100">
                    <a:schemeClr val="bg1">
                      <a:lumMod val="65000"/>
                      <a:lumOff val="35000"/>
                      <a:alpha val="40000"/>
                    </a:schemeClr>
                  </a:glow>
                </a:effectLst>
              </a:rPr>
              <a:t>FitWise: Smart Workout Builder and Exercise Analytics</a:t>
            </a:r>
          </a:p>
        </p:txBody>
      </p:sp>
      <p:sp>
        <p:nvSpPr>
          <p:cNvPr id="3" name="Content Placeholder 2"/>
          <p:cNvSpPr>
            <a:spLocks noGrp="1"/>
          </p:cNvSpPr>
          <p:nvPr>
            <p:ph idx="1"/>
          </p:nvPr>
        </p:nvSpPr>
        <p:spPr>
          <a:xfrm>
            <a:off x="856059" y="2666999"/>
            <a:ext cx="7429499" cy="3124201"/>
          </a:xfrm>
        </p:spPr>
        <p:txBody>
          <a:bodyPr>
            <a:normAutofit/>
          </a:bodyPr>
          <a:lstStyle/>
          <a:p>
            <a:pPr marL="0" indent="0">
              <a:buNone/>
            </a:pPr>
            <a:endParaRPr lang="en-US" b="1" dirty="0"/>
          </a:p>
          <a:p>
            <a:pPr marL="0" indent="0" algn="ctr">
              <a:buNone/>
            </a:pPr>
            <a:r>
              <a:rPr lang="en-US" sz="2400" b="1" dirty="0"/>
              <a:t>FitWise – Workout Tracking Web App</a:t>
            </a:r>
            <a:br>
              <a:rPr lang="en-US" sz="2400" dirty="0"/>
            </a:br>
            <a:r>
              <a:rPr lang="en-US" sz="2400" dirty="0"/>
              <a:t>Milestone #3 Presentation</a:t>
            </a:r>
            <a:br>
              <a:rPr lang="en-US" sz="2400" dirty="0"/>
            </a:br>
            <a:r>
              <a:rPr lang="en-US" sz="2400" b="1" dirty="0"/>
              <a:t>Presented by: Emmanuel Dairo</a:t>
            </a:r>
            <a:br>
              <a:rPr lang="en-US" sz="2400" dirty="0"/>
            </a:br>
            <a:r>
              <a:rPr lang="en-US" sz="2400" dirty="0"/>
              <a:t>CS499 Senior Seminar</a:t>
            </a:r>
            <a:br>
              <a:rPr lang="en-US" sz="2400" dirty="0"/>
            </a:br>
            <a:r>
              <a:rPr lang="en-US" sz="2400" dirty="0"/>
              <a:t>April 14, 2026</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6F001-3D6A-5D95-DAEA-E207B882E43E}"/>
              </a:ext>
            </a:extLst>
          </p:cNvPr>
          <p:cNvSpPr>
            <a:spLocks noGrp="1"/>
          </p:cNvSpPr>
          <p:nvPr>
            <p:ph type="title"/>
          </p:nvPr>
        </p:nvSpPr>
        <p:spPr>
          <a:xfrm>
            <a:off x="816263" y="43927"/>
            <a:ext cx="7511473" cy="1312480"/>
          </a:xfrm>
        </p:spPr>
        <p:txBody>
          <a:bodyPr>
            <a:normAutofit/>
          </a:bodyPr>
          <a:lstStyle/>
          <a:p>
            <a:r>
              <a:rPr lang="en-US" sz="4000" dirty="0"/>
              <a:t>What is FitWise?</a:t>
            </a:r>
          </a:p>
        </p:txBody>
      </p:sp>
      <p:sp>
        <p:nvSpPr>
          <p:cNvPr id="3" name="Content Placeholder 2">
            <a:extLst>
              <a:ext uri="{FF2B5EF4-FFF2-40B4-BE49-F238E27FC236}">
                <a16:creationId xmlns:a16="http://schemas.microsoft.com/office/drawing/2014/main" id="{FA96B5EA-31E5-7E17-672C-68910173E8DA}"/>
              </a:ext>
            </a:extLst>
          </p:cNvPr>
          <p:cNvSpPr>
            <a:spLocks noGrp="1"/>
          </p:cNvSpPr>
          <p:nvPr>
            <p:ph idx="1"/>
          </p:nvPr>
        </p:nvSpPr>
        <p:spPr>
          <a:xfrm>
            <a:off x="184320" y="1163986"/>
            <a:ext cx="8775357" cy="5694013"/>
          </a:xfrm>
        </p:spPr>
        <p:txBody>
          <a:bodyPr>
            <a:normAutofit fontScale="70000" lnSpcReduction="20000"/>
          </a:bodyPr>
          <a:lstStyle/>
          <a:p>
            <a:pPr marL="0" indent="0">
              <a:buNone/>
            </a:pPr>
            <a:r>
              <a:rPr lang="en-US" sz="2800" dirty="0"/>
              <a:t>FitWise is a full-stack workout tracking </a:t>
            </a:r>
            <a:r>
              <a:rPr lang="en-US" sz="2800" b="1" dirty="0"/>
              <a:t>web app</a:t>
            </a:r>
            <a:r>
              <a:rPr lang="en-US" sz="2800" dirty="0"/>
              <a:t> that helps users:</a:t>
            </a:r>
          </a:p>
          <a:p>
            <a:r>
              <a:rPr lang="en-US" sz="2800" dirty="0"/>
              <a:t>Log workouts (sets, Reps, Weight)</a:t>
            </a:r>
          </a:p>
          <a:p>
            <a:r>
              <a:rPr lang="en-US" sz="2800" dirty="0"/>
              <a:t>Automatically classify exercises</a:t>
            </a:r>
          </a:p>
          <a:p>
            <a:r>
              <a:rPr lang="en-US" sz="2800" dirty="0"/>
              <a:t>Track Volume, streaks, and personal records</a:t>
            </a:r>
          </a:p>
          <a:p>
            <a:r>
              <a:rPr lang="en-US" sz="2800" dirty="0"/>
              <a:t>create training insights</a:t>
            </a:r>
          </a:p>
          <a:p>
            <a:r>
              <a:rPr lang="en-US" sz="2800" dirty="0"/>
              <a:t>Manage progression over time</a:t>
            </a:r>
          </a:p>
          <a:p>
            <a:endParaRPr lang="en-US" sz="2800" dirty="0"/>
          </a:p>
          <a:p>
            <a:r>
              <a:rPr lang="en-US" sz="2800" b="1" dirty="0"/>
              <a:t>Why this project?</a:t>
            </a:r>
            <a:br>
              <a:rPr lang="en-US" sz="2800" dirty="0"/>
            </a:br>
            <a:r>
              <a:rPr lang="en-US" sz="2800" dirty="0"/>
              <a:t>I built this because I already track my workouts, and I wanted a structured system that stores data and helps analyze progress.</a:t>
            </a:r>
          </a:p>
          <a:p>
            <a:endParaRPr lang="en-US" sz="2800" dirty="0"/>
          </a:p>
          <a:p>
            <a:pPr marL="0" indent="0">
              <a:buNone/>
            </a:pPr>
            <a:r>
              <a:rPr lang="en-US" sz="2400" dirty="0" err="1"/>
              <a:t>FitWise</a:t>
            </a:r>
            <a:r>
              <a:rPr lang="en-US" sz="2400" dirty="0"/>
              <a:t> is a full-stack application that allows users to log workouts, track sets, reps, and weight, and manage their training data. In addition to basic tracking, the system also provides analytics like volume, streaks, and personal records, helping users better understand their performance. Originally, this project focused on simple tracking, but I expanded it to include analytics and insights</a:t>
            </a:r>
          </a:p>
          <a:p>
            <a:pPr marL="0" indent="0">
              <a:buNone/>
            </a:pPr>
            <a:endParaRPr lang="en-US" dirty="0"/>
          </a:p>
        </p:txBody>
      </p:sp>
    </p:spTree>
    <p:extLst>
      <p:ext uri="{BB962C8B-B14F-4D97-AF65-F5344CB8AC3E}">
        <p14:creationId xmlns:p14="http://schemas.microsoft.com/office/powerpoint/2010/main" val="1908673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263" y="78433"/>
            <a:ext cx="7511473" cy="1312480"/>
          </a:xfrm>
        </p:spPr>
        <p:txBody>
          <a:bodyPr>
            <a:normAutofit/>
          </a:bodyPr>
          <a:lstStyle/>
          <a:p>
            <a:r>
              <a:rPr lang="en-US" sz="3200" dirty="0"/>
              <a:t>Tools and Technologies Used</a:t>
            </a:r>
            <a:endParaRPr sz="3200" dirty="0"/>
          </a:p>
        </p:txBody>
      </p:sp>
      <p:sp>
        <p:nvSpPr>
          <p:cNvPr id="3" name="Content Placeholder 2"/>
          <p:cNvSpPr>
            <a:spLocks noGrp="1"/>
          </p:cNvSpPr>
          <p:nvPr>
            <p:ph sz="half" idx="1"/>
          </p:nvPr>
        </p:nvSpPr>
        <p:spPr>
          <a:xfrm>
            <a:off x="667965" y="1822233"/>
            <a:ext cx="7808068" cy="4710968"/>
          </a:xfrm>
        </p:spPr>
        <p:txBody>
          <a:bodyPr>
            <a:noAutofit/>
          </a:bodyPr>
          <a:lstStyle/>
          <a:p>
            <a:r>
              <a:rPr lang="en-US" sz="2200" dirty="0" err="1"/>
              <a:t>FastAPI</a:t>
            </a:r>
            <a:r>
              <a:rPr lang="en-US" sz="2200" dirty="0"/>
              <a:t> (backend)</a:t>
            </a:r>
          </a:p>
          <a:p>
            <a:r>
              <a:rPr lang="en-US" sz="2200" dirty="0"/>
              <a:t>SQLite (database)</a:t>
            </a:r>
          </a:p>
          <a:p>
            <a:r>
              <a:rPr lang="en-US" sz="2200" dirty="0"/>
              <a:t>React (frontend UI)</a:t>
            </a:r>
          </a:p>
          <a:p>
            <a:r>
              <a:rPr lang="en-US" sz="2200" dirty="0"/>
              <a:t>Fetch API (Communication)</a:t>
            </a:r>
          </a:p>
          <a:p>
            <a:r>
              <a:rPr lang="en-US" sz="2200" dirty="0" err="1"/>
              <a:t>Uvicorn</a:t>
            </a:r>
            <a:r>
              <a:rPr lang="en-US" sz="2200" dirty="0"/>
              <a:t> (server)</a:t>
            </a:r>
          </a:p>
          <a:p>
            <a:pPr marL="0" indent="0">
              <a:buNone/>
            </a:pPr>
            <a:endParaRPr lang="en-US" sz="2000" dirty="0"/>
          </a:p>
          <a:p>
            <a:pPr marL="0" indent="0">
              <a:buNone/>
            </a:pPr>
            <a:endParaRPr lang="en-US" sz="2000" dirty="0"/>
          </a:p>
          <a:p>
            <a:pPr marL="0" indent="0">
              <a:buNone/>
            </a:pPr>
            <a:r>
              <a:rPr lang="en-US" sz="1800" dirty="0"/>
              <a:t>The system is built using </a:t>
            </a:r>
            <a:r>
              <a:rPr lang="en-US" sz="1800" dirty="0" err="1"/>
              <a:t>FastAPI</a:t>
            </a:r>
            <a:r>
              <a:rPr lang="en-US" sz="1800" dirty="0"/>
              <a:t> for the backend, SQLite for data storage, and React for the frontend. The frontend communicates with the backend using the Fetch API, and the application is ran locally using </a:t>
            </a:r>
            <a:r>
              <a:rPr lang="en-US" sz="1800" dirty="0" err="1"/>
              <a:t>Uvicorn</a:t>
            </a:r>
            <a:r>
              <a:rPr lang="en-US" sz="1800" dirty="0"/>
              <a:t>. These tools allowed for fast development and smooth integration.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091" y="596018"/>
            <a:ext cx="7777729" cy="1312480"/>
          </a:xfrm>
        </p:spPr>
        <p:txBody>
          <a:bodyPr>
            <a:normAutofit/>
          </a:bodyPr>
          <a:lstStyle/>
          <a:p>
            <a:r>
              <a:rPr lang="en-US" sz="4000" dirty="0"/>
              <a:t>Implementation Techniques</a:t>
            </a:r>
            <a:endParaRPr sz="4000" dirty="0"/>
          </a:p>
        </p:txBody>
      </p:sp>
      <p:sp>
        <p:nvSpPr>
          <p:cNvPr id="3" name="Content Placeholder 2"/>
          <p:cNvSpPr>
            <a:spLocks noGrp="1"/>
          </p:cNvSpPr>
          <p:nvPr>
            <p:ph idx="1"/>
          </p:nvPr>
        </p:nvSpPr>
        <p:spPr>
          <a:xfrm>
            <a:off x="732083" y="1982444"/>
            <a:ext cx="8411917" cy="4875556"/>
          </a:xfrm>
        </p:spPr>
        <p:txBody>
          <a:bodyPr>
            <a:normAutofit/>
          </a:bodyPr>
          <a:lstStyle/>
          <a:p>
            <a:r>
              <a:rPr lang="en-US" sz="2400" dirty="0"/>
              <a:t>Full CRUD system implemented</a:t>
            </a:r>
          </a:p>
          <a:p>
            <a:r>
              <a:rPr lang="en-US" sz="2400" dirty="0"/>
              <a:t>Automatic exercise classification system</a:t>
            </a:r>
          </a:p>
          <a:p>
            <a:r>
              <a:rPr lang="en-US" sz="2400" dirty="0"/>
              <a:t>Workout data stored with timestamps</a:t>
            </a:r>
          </a:p>
          <a:p>
            <a:r>
              <a:rPr lang="en-US" sz="2400" dirty="0"/>
              <a:t>Frontend dashboard with analytics</a:t>
            </a:r>
          </a:p>
          <a:p>
            <a:r>
              <a:rPr lang="en-US" sz="2400" dirty="0"/>
              <a:t>Input validation and error handling</a:t>
            </a:r>
          </a:p>
          <a:p>
            <a:pPr marL="0" indent="0">
              <a:buNone/>
            </a:pPr>
            <a:endParaRPr lang="en-US" sz="2400" dirty="0"/>
          </a:p>
          <a:p>
            <a:pPr marL="0" indent="0">
              <a:buNone/>
            </a:pPr>
            <a:r>
              <a:rPr lang="en-US" dirty="0"/>
              <a:t>now the system is fully implemented with full CRUD functionality. The backend handles data storage, validation, and classification, while the frontend gives users an interactive interface for logging and analyzing workouts. Compared to the last milestone #2, I added features to the system to include analytics and data tracking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09FA0-8383-1730-DD8B-E07AFF6D9435}"/>
              </a:ext>
            </a:extLst>
          </p:cNvPr>
          <p:cNvSpPr>
            <a:spLocks noGrp="1"/>
          </p:cNvSpPr>
          <p:nvPr>
            <p:ph type="title"/>
          </p:nvPr>
        </p:nvSpPr>
        <p:spPr/>
        <p:txBody>
          <a:bodyPr>
            <a:normAutofit/>
          </a:bodyPr>
          <a:lstStyle/>
          <a:p>
            <a:r>
              <a:rPr lang="en-US" sz="4800" dirty="0"/>
              <a:t>System Workflow</a:t>
            </a:r>
          </a:p>
        </p:txBody>
      </p:sp>
      <p:sp>
        <p:nvSpPr>
          <p:cNvPr id="3" name="Content Placeholder 2">
            <a:extLst>
              <a:ext uri="{FF2B5EF4-FFF2-40B4-BE49-F238E27FC236}">
                <a16:creationId xmlns:a16="http://schemas.microsoft.com/office/drawing/2014/main" id="{F978EE6D-69DE-25E5-36A5-8BCFF6598796}"/>
              </a:ext>
            </a:extLst>
          </p:cNvPr>
          <p:cNvSpPr>
            <a:spLocks noGrp="1"/>
          </p:cNvSpPr>
          <p:nvPr>
            <p:ph idx="1"/>
          </p:nvPr>
        </p:nvSpPr>
        <p:spPr>
          <a:xfrm>
            <a:off x="818348" y="2060897"/>
            <a:ext cx="8325652" cy="4408913"/>
          </a:xfrm>
        </p:spPr>
        <p:txBody>
          <a:bodyPr>
            <a:normAutofit fontScale="85000" lnSpcReduction="20000"/>
          </a:bodyPr>
          <a:lstStyle/>
          <a:p>
            <a:pPr marL="457200" indent="-457200">
              <a:buFont typeface="+mj-lt"/>
              <a:buAutoNum type="arabicPeriod"/>
            </a:pPr>
            <a:r>
              <a:rPr lang="en-US" sz="2800" dirty="0"/>
              <a:t>User inputs workout in frontend</a:t>
            </a:r>
          </a:p>
          <a:p>
            <a:pPr marL="457200" indent="-457200">
              <a:buFont typeface="+mj-lt"/>
              <a:buAutoNum type="arabicPeriod"/>
            </a:pPr>
            <a:r>
              <a:rPr lang="en-US" sz="2800" dirty="0"/>
              <a:t>Data sent to backend API</a:t>
            </a:r>
          </a:p>
          <a:p>
            <a:pPr marL="457200" indent="-457200">
              <a:buFont typeface="+mj-lt"/>
              <a:buAutoNum type="arabicPeriod"/>
            </a:pPr>
            <a:r>
              <a:rPr lang="en-US" sz="2800" dirty="0"/>
              <a:t>Backend classifies and stores data</a:t>
            </a:r>
          </a:p>
          <a:p>
            <a:pPr marL="457200" indent="-457200">
              <a:buFont typeface="+mj-lt"/>
              <a:buAutoNum type="arabicPeriod"/>
            </a:pPr>
            <a:r>
              <a:rPr lang="en-US" sz="2800" dirty="0"/>
              <a:t>Data retrieved and displayed</a:t>
            </a:r>
          </a:p>
          <a:p>
            <a:pPr marL="457200" indent="-457200">
              <a:buFont typeface="+mj-lt"/>
              <a:buAutoNum type="arabicPeriod"/>
            </a:pPr>
            <a:r>
              <a:rPr lang="en-US" sz="2800" dirty="0"/>
              <a:t>Dashboard updates in real time</a:t>
            </a:r>
          </a:p>
          <a:p>
            <a:pPr marL="0" indent="0">
              <a:buNone/>
            </a:pPr>
            <a:endParaRPr lang="en-US" sz="2400" dirty="0"/>
          </a:p>
          <a:p>
            <a:pPr marL="0" indent="0">
              <a:buNone/>
            </a:pPr>
            <a:endParaRPr lang="en-US" sz="2400" dirty="0"/>
          </a:p>
          <a:p>
            <a:pPr marL="0" indent="0">
              <a:buNone/>
            </a:pPr>
            <a:r>
              <a:rPr lang="en-US" sz="2100" dirty="0"/>
              <a:t>The system works through a simple workflow. The workflow begins when a user enters workout data in the frontend. That data is sent to the backend API, where it is validated, classified, and stored in the SQLite database. The data is then retrieved and displayed in the frontend, and the dashboard updates in real time.</a:t>
            </a:r>
          </a:p>
          <a:p>
            <a:endParaRPr lang="en-US" sz="2400" dirty="0"/>
          </a:p>
        </p:txBody>
      </p:sp>
    </p:spTree>
    <p:extLst>
      <p:ext uri="{BB962C8B-B14F-4D97-AF65-F5344CB8AC3E}">
        <p14:creationId xmlns:p14="http://schemas.microsoft.com/office/powerpoint/2010/main" val="3805031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519AB-E94D-A517-66EE-85CEAEC9A704}"/>
              </a:ext>
            </a:extLst>
          </p:cNvPr>
          <p:cNvSpPr>
            <a:spLocks noGrp="1"/>
          </p:cNvSpPr>
          <p:nvPr>
            <p:ph type="title"/>
          </p:nvPr>
        </p:nvSpPr>
        <p:spPr/>
        <p:txBody>
          <a:bodyPr>
            <a:normAutofit/>
          </a:bodyPr>
          <a:lstStyle/>
          <a:p>
            <a:r>
              <a:rPr lang="en-US" sz="4000" dirty="0"/>
              <a:t>Key Features</a:t>
            </a:r>
          </a:p>
        </p:txBody>
      </p:sp>
      <p:sp>
        <p:nvSpPr>
          <p:cNvPr id="3" name="Content Placeholder 2">
            <a:extLst>
              <a:ext uri="{FF2B5EF4-FFF2-40B4-BE49-F238E27FC236}">
                <a16:creationId xmlns:a16="http://schemas.microsoft.com/office/drawing/2014/main" id="{B42E717A-04ED-DDA6-CF4A-1B83DDF7EB78}"/>
              </a:ext>
            </a:extLst>
          </p:cNvPr>
          <p:cNvSpPr>
            <a:spLocks noGrp="1"/>
          </p:cNvSpPr>
          <p:nvPr>
            <p:ph sz="half" idx="1"/>
          </p:nvPr>
        </p:nvSpPr>
        <p:spPr>
          <a:xfrm>
            <a:off x="753934" y="1697425"/>
            <a:ext cx="7507305" cy="5426830"/>
          </a:xfrm>
        </p:spPr>
        <p:txBody>
          <a:bodyPr>
            <a:normAutofit/>
          </a:bodyPr>
          <a:lstStyle/>
          <a:p>
            <a:r>
              <a:rPr lang="en-US" sz="2200" dirty="0"/>
              <a:t>Automatic classification</a:t>
            </a:r>
          </a:p>
          <a:p>
            <a:r>
              <a:rPr lang="en-US" sz="2200" dirty="0"/>
              <a:t>Volume calculation</a:t>
            </a:r>
          </a:p>
          <a:p>
            <a:r>
              <a:rPr lang="en-US" sz="2200" dirty="0"/>
              <a:t>Personal record tracking</a:t>
            </a:r>
          </a:p>
          <a:p>
            <a:r>
              <a:rPr lang="en-US" sz="2200" dirty="0"/>
              <a:t>Streak Tracking</a:t>
            </a:r>
          </a:p>
          <a:p>
            <a:r>
              <a:rPr lang="en-US" sz="2200" dirty="0"/>
              <a:t>1 RM = W x (1 + R/30)</a:t>
            </a:r>
          </a:p>
          <a:p>
            <a:endParaRPr lang="en-US" sz="2200" dirty="0"/>
          </a:p>
          <a:p>
            <a:endParaRPr lang="en-US" sz="2200" dirty="0"/>
          </a:p>
          <a:p>
            <a:pPr marL="0" indent="0">
              <a:buNone/>
            </a:pPr>
            <a:r>
              <a:rPr lang="en-US" sz="1800" dirty="0"/>
              <a:t>The system includes several key features such as automatic exercise classification, volume calculation using sets, reps, and weight, personal record tracking, streak tracking, muscle group analysis, progression charts, training insights, and a dark and light mode </a:t>
            </a:r>
            <a:endParaRPr lang="en-US" sz="2200" dirty="0"/>
          </a:p>
        </p:txBody>
      </p:sp>
      <p:sp>
        <p:nvSpPr>
          <p:cNvPr id="4" name="Content Placeholder 3">
            <a:extLst>
              <a:ext uri="{FF2B5EF4-FFF2-40B4-BE49-F238E27FC236}">
                <a16:creationId xmlns:a16="http://schemas.microsoft.com/office/drawing/2014/main" id="{F610C862-91DC-A8EE-92D1-E362F6BC2003}"/>
              </a:ext>
            </a:extLst>
          </p:cNvPr>
          <p:cNvSpPr>
            <a:spLocks noGrp="1"/>
          </p:cNvSpPr>
          <p:nvPr>
            <p:ph sz="half" idx="2"/>
          </p:nvPr>
        </p:nvSpPr>
        <p:spPr>
          <a:xfrm>
            <a:off x="4572000" y="1280340"/>
            <a:ext cx="3689239" cy="4031330"/>
          </a:xfrm>
        </p:spPr>
        <p:txBody>
          <a:bodyPr>
            <a:normAutofit/>
          </a:bodyPr>
          <a:lstStyle/>
          <a:p>
            <a:r>
              <a:rPr lang="en-US" sz="2200" dirty="0"/>
              <a:t>Progression charts</a:t>
            </a:r>
          </a:p>
          <a:p>
            <a:r>
              <a:rPr lang="en-US" sz="2200" dirty="0"/>
              <a:t>Training insights</a:t>
            </a:r>
          </a:p>
          <a:p>
            <a:r>
              <a:rPr lang="en-US" sz="2200" dirty="0"/>
              <a:t>Dark / light mode</a:t>
            </a:r>
          </a:p>
          <a:p>
            <a:r>
              <a:rPr lang="en-US" sz="2200" dirty="0"/>
              <a:t>Muscle group tracking</a:t>
            </a:r>
          </a:p>
        </p:txBody>
      </p:sp>
    </p:spTree>
    <p:extLst>
      <p:ext uri="{BB962C8B-B14F-4D97-AF65-F5344CB8AC3E}">
        <p14:creationId xmlns:p14="http://schemas.microsoft.com/office/powerpoint/2010/main" val="158547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3B9C-5570-28AF-792D-E90AEC9BA4E5}"/>
              </a:ext>
            </a:extLst>
          </p:cNvPr>
          <p:cNvSpPr>
            <a:spLocks noGrp="1"/>
          </p:cNvSpPr>
          <p:nvPr>
            <p:ph type="title"/>
          </p:nvPr>
        </p:nvSpPr>
        <p:spPr>
          <a:xfrm>
            <a:off x="266258" y="390915"/>
            <a:ext cx="7511473" cy="1312480"/>
          </a:xfrm>
        </p:spPr>
        <p:txBody>
          <a:bodyPr>
            <a:normAutofit/>
          </a:bodyPr>
          <a:lstStyle/>
          <a:p>
            <a:r>
              <a:rPr lang="en-US" sz="4000" dirty="0"/>
              <a:t>Key Features</a:t>
            </a:r>
          </a:p>
        </p:txBody>
      </p:sp>
      <p:sp>
        <p:nvSpPr>
          <p:cNvPr id="3" name="Content Placeholder 2">
            <a:extLst>
              <a:ext uri="{FF2B5EF4-FFF2-40B4-BE49-F238E27FC236}">
                <a16:creationId xmlns:a16="http://schemas.microsoft.com/office/drawing/2014/main" id="{23316C79-556C-6155-0A30-47B122B20CAE}"/>
              </a:ext>
            </a:extLst>
          </p:cNvPr>
          <p:cNvSpPr>
            <a:spLocks noGrp="1"/>
          </p:cNvSpPr>
          <p:nvPr>
            <p:ph idx="1"/>
          </p:nvPr>
        </p:nvSpPr>
        <p:spPr>
          <a:xfrm>
            <a:off x="119921" y="1820463"/>
            <a:ext cx="7877078" cy="4646622"/>
          </a:xfrm>
        </p:spPr>
        <p:txBody>
          <a:bodyPr>
            <a:normAutofit fontScale="85000" lnSpcReduction="20000"/>
          </a:bodyPr>
          <a:lstStyle/>
          <a:p>
            <a:r>
              <a:rPr lang="en-US" sz="2600" dirty="0"/>
              <a:t>Automatic exercise </a:t>
            </a:r>
          </a:p>
          <a:p>
            <a:pPr marL="0" indent="0">
              <a:buNone/>
            </a:pPr>
            <a:r>
              <a:rPr lang="en-US" sz="2600" dirty="0"/>
              <a:t>classification</a:t>
            </a:r>
          </a:p>
          <a:p>
            <a:r>
              <a:rPr lang="en-US" sz="2600" dirty="0"/>
              <a:t>Training insights </a:t>
            </a:r>
          </a:p>
          <a:p>
            <a:r>
              <a:rPr lang="en-US" sz="2600" dirty="0"/>
              <a:t>Progression Tracking</a:t>
            </a:r>
          </a:p>
          <a:p>
            <a:r>
              <a:rPr lang="en-US" sz="2600" dirty="0"/>
              <a:t>Charts &amp; strength </a:t>
            </a:r>
          </a:p>
          <a:p>
            <a:pPr marL="0" indent="0">
              <a:buNone/>
            </a:pPr>
            <a:r>
              <a:rPr lang="en-US" sz="2600" dirty="0"/>
              <a:t>development</a:t>
            </a:r>
          </a:p>
          <a:p>
            <a:pPr marL="0" indent="0">
              <a:buNone/>
            </a:pPr>
            <a:endParaRPr lang="en-US" sz="2200" dirty="0"/>
          </a:p>
          <a:p>
            <a:pPr marL="0" indent="0">
              <a:buNone/>
            </a:pPr>
            <a:endParaRPr lang="en-US" sz="2200" dirty="0"/>
          </a:p>
          <a:p>
            <a:pPr marL="0" indent="0">
              <a:buNone/>
            </a:pPr>
            <a:r>
              <a:rPr lang="en-US" sz="1900" dirty="0"/>
              <a:t>One improvement I added different from the original plan was an automated exercise classification feature that categorizes workouts between 7 muscle groups in real time. This adds a level of intelligent processing to the system, instead of having to use manual input. Another major addition was training insights and progression tracking. The system analyzes workout data to identify trends such as most trained muscle groups, consistency, and performance improvements</a:t>
            </a:r>
          </a:p>
          <a:p>
            <a:pPr marL="0" indent="0">
              <a:buNone/>
            </a:pPr>
            <a:endParaRPr lang="en-US" sz="2200" dirty="0"/>
          </a:p>
        </p:txBody>
      </p:sp>
      <p:pic>
        <p:nvPicPr>
          <p:cNvPr id="5" name="Picture 4">
            <a:extLst>
              <a:ext uri="{FF2B5EF4-FFF2-40B4-BE49-F238E27FC236}">
                <a16:creationId xmlns:a16="http://schemas.microsoft.com/office/drawing/2014/main" id="{B39B1E2E-5B39-7C6E-9355-5DEBA2391F55}"/>
              </a:ext>
            </a:extLst>
          </p:cNvPr>
          <p:cNvPicPr>
            <a:picLocks noChangeAspect="1"/>
          </p:cNvPicPr>
          <p:nvPr/>
        </p:nvPicPr>
        <p:blipFill>
          <a:blip r:embed="rId2"/>
          <a:stretch>
            <a:fillRect/>
          </a:stretch>
        </p:blipFill>
        <p:spPr>
          <a:xfrm>
            <a:off x="3637919" y="390915"/>
            <a:ext cx="5506081" cy="4227227"/>
          </a:xfrm>
          <a:prstGeom prst="rect">
            <a:avLst/>
          </a:prstGeom>
        </p:spPr>
      </p:pic>
    </p:spTree>
    <p:extLst>
      <p:ext uri="{BB962C8B-B14F-4D97-AF65-F5344CB8AC3E}">
        <p14:creationId xmlns:p14="http://schemas.microsoft.com/office/powerpoint/2010/main" val="1258973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11F0-B28E-DF7C-0A94-E88EFE227B5D}"/>
              </a:ext>
            </a:extLst>
          </p:cNvPr>
          <p:cNvSpPr>
            <a:spLocks noGrp="1"/>
          </p:cNvSpPr>
          <p:nvPr>
            <p:ph type="title"/>
          </p:nvPr>
        </p:nvSpPr>
        <p:spPr>
          <a:xfrm>
            <a:off x="820431" y="236867"/>
            <a:ext cx="7511473" cy="1312480"/>
          </a:xfrm>
        </p:spPr>
        <p:txBody>
          <a:bodyPr>
            <a:normAutofit/>
          </a:bodyPr>
          <a:lstStyle/>
          <a:p>
            <a:r>
              <a:rPr lang="en-US" sz="4000" dirty="0"/>
              <a:t>Testing &amp; Validation</a:t>
            </a:r>
          </a:p>
        </p:txBody>
      </p:sp>
      <p:sp>
        <p:nvSpPr>
          <p:cNvPr id="3" name="Content Placeholder 2">
            <a:extLst>
              <a:ext uri="{FF2B5EF4-FFF2-40B4-BE49-F238E27FC236}">
                <a16:creationId xmlns:a16="http://schemas.microsoft.com/office/drawing/2014/main" id="{C426562B-B2A2-B462-E4D4-57EF5EC3620F}"/>
              </a:ext>
            </a:extLst>
          </p:cNvPr>
          <p:cNvSpPr>
            <a:spLocks noGrp="1"/>
          </p:cNvSpPr>
          <p:nvPr>
            <p:ph sz="half" idx="1"/>
          </p:nvPr>
        </p:nvSpPr>
        <p:spPr>
          <a:xfrm>
            <a:off x="882761" y="2159172"/>
            <a:ext cx="7507305" cy="4415546"/>
          </a:xfrm>
        </p:spPr>
        <p:txBody>
          <a:bodyPr>
            <a:normAutofit/>
          </a:bodyPr>
          <a:lstStyle/>
          <a:p>
            <a:r>
              <a:rPr lang="en-US" sz="2400" dirty="0"/>
              <a:t>Verified</a:t>
            </a:r>
          </a:p>
          <a:p>
            <a:pPr lvl="1"/>
            <a:r>
              <a:rPr lang="en-US" sz="2200" dirty="0"/>
              <a:t>Create operation</a:t>
            </a:r>
          </a:p>
          <a:p>
            <a:pPr lvl="1"/>
            <a:r>
              <a:rPr lang="en-US" sz="2200" dirty="0"/>
              <a:t>Retrieve operation</a:t>
            </a:r>
          </a:p>
          <a:p>
            <a:pPr lvl="1"/>
            <a:r>
              <a:rPr lang="en-US" sz="2200" dirty="0"/>
              <a:t>Update operation</a:t>
            </a:r>
          </a:p>
          <a:p>
            <a:pPr lvl="1"/>
            <a:r>
              <a:rPr lang="en-US" sz="2000" dirty="0"/>
              <a:t>Delete operation</a:t>
            </a:r>
          </a:p>
          <a:p>
            <a:pPr lvl="1"/>
            <a:endParaRPr lang="en-US" sz="2000" dirty="0"/>
          </a:p>
          <a:p>
            <a:pPr marL="457200" lvl="1" indent="0">
              <a:buNone/>
            </a:pPr>
            <a:r>
              <a:rPr lang="en-US" sz="1800" dirty="0"/>
              <a:t>To make sure the system works correctly, I tested all CRUD operations including create, retrieve, update, and delete. I also tested validation by entering invalid inputs such as empty fields and incorrect values to confirm that the system handles errors properly</a:t>
            </a:r>
            <a:endParaRPr lang="en-US" sz="2400" dirty="0"/>
          </a:p>
          <a:p>
            <a:pPr lvl="1"/>
            <a:endParaRPr lang="en-US" sz="2200" dirty="0"/>
          </a:p>
        </p:txBody>
      </p:sp>
      <p:sp>
        <p:nvSpPr>
          <p:cNvPr id="4" name="Content Placeholder 3">
            <a:extLst>
              <a:ext uri="{FF2B5EF4-FFF2-40B4-BE49-F238E27FC236}">
                <a16:creationId xmlns:a16="http://schemas.microsoft.com/office/drawing/2014/main" id="{DD622E20-472D-BCFD-B955-1113179EB243}"/>
              </a:ext>
            </a:extLst>
          </p:cNvPr>
          <p:cNvSpPr>
            <a:spLocks noGrp="1"/>
          </p:cNvSpPr>
          <p:nvPr>
            <p:ph sz="half" idx="2"/>
          </p:nvPr>
        </p:nvSpPr>
        <p:spPr>
          <a:xfrm>
            <a:off x="4572000" y="1165745"/>
            <a:ext cx="3818066" cy="3024632"/>
          </a:xfrm>
        </p:spPr>
        <p:txBody>
          <a:bodyPr>
            <a:normAutofit/>
          </a:bodyPr>
          <a:lstStyle/>
          <a:p>
            <a:r>
              <a:rPr lang="en-US" sz="2200" dirty="0"/>
              <a:t>Validation</a:t>
            </a:r>
          </a:p>
          <a:p>
            <a:pPr lvl="1"/>
            <a:r>
              <a:rPr lang="en-US" sz="2200" dirty="0"/>
              <a:t>Empty inputs rejected</a:t>
            </a:r>
          </a:p>
          <a:p>
            <a:pPr lvl="1"/>
            <a:r>
              <a:rPr lang="en-US" sz="2200" dirty="0"/>
              <a:t>Invalid values handled</a:t>
            </a:r>
          </a:p>
        </p:txBody>
      </p:sp>
    </p:spTree>
    <p:extLst>
      <p:ext uri="{BB962C8B-B14F-4D97-AF65-F5344CB8AC3E}">
        <p14:creationId xmlns:p14="http://schemas.microsoft.com/office/powerpoint/2010/main" val="4104769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5562-BB6E-94CA-9309-9D31BC2FA913}"/>
              </a:ext>
            </a:extLst>
          </p:cNvPr>
          <p:cNvSpPr>
            <a:spLocks noGrp="1"/>
          </p:cNvSpPr>
          <p:nvPr>
            <p:ph type="title"/>
          </p:nvPr>
        </p:nvSpPr>
        <p:spPr>
          <a:xfrm>
            <a:off x="559554" y="9422"/>
            <a:ext cx="7511473" cy="1312480"/>
          </a:xfrm>
        </p:spPr>
        <p:txBody>
          <a:bodyPr>
            <a:normAutofit/>
          </a:bodyPr>
          <a:lstStyle/>
          <a:p>
            <a:r>
              <a:rPr lang="en-US" sz="4000" dirty="0"/>
              <a:t>System Status &amp; Results</a:t>
            </a:r>
          </a:p>
        </p:txBody>
      </p:sp>
      <p:sp>
        <p:nvSpPr>
          <p:cNvPr id="3" name="Content Placeholder 2">
            <a:extLst>
              <a:ext uri="{FF2B5EF4-FFF2-40B4-BE49-F238E27FC236}">
                <a16:creationId xmlns:a16="http://schemas.microsoft.com/office/drawing/2014/main" id="{74F7DBB0-870D-B3F0-DEE0-6E52D6D6BF96}"/>
              </a:ext>
            </a:extLst>
          </p:cNvPr>
          <p:cNvSpPr>
            <a:spLocks noGrp="1"/>
          </p:cNvSpPr>
          <p:nvPr>
            <p:ph idx="1"/>
          </p:nvPr>
        </p:nvSpPr>
        <p:spPr>
          <a:xfrm>
            <a:off x="948906" y="1321902"/>
            <a:ext cx="7884542" cy="5113403"/>
          </a:xfrm>
        </p:spPr>
        <p:txBody>
          <a:bodyPr>
            <a:normAutofit/>
          </a:bodyPr>
          <a:lstStyle/>
          <a:p>
            <a:r>
              <a:rPr lang="en-US" sz="2800" dirty="0"/>
              <a:t>System fully functional end-to-end</a:t>
            </a:r>
          </a:p>
          <a:p>
            <a:r>
              <a:rPr lang="en-US" sz="2800" dirty="0"/>
              <a:t>Data stays in database</a:t>
            </a:r>
          </a:p>
          <a:p>
            <a:r>
              <a:rPr lang="en-US" sz="2800" dirty="0"/>
              <a:t>Real-time analytics working</a:t>
            </a:r>
          </a:p>
          <a:p>
            <a:r>
              <a:rPr lang="en-US" sz="2800" dirty="0"/>
              <a:t>Insights generated from workout data</a:t>
            </a:r>
          </a:p>
          <a:p>
            <a:endParaRPr lang="en-US" sz="2800" dirty="0"/>
          </a:p>
          <a:p>
            <a:pPr marL="0" indent="0">
              <a:buNone/>
            </a:pPr>
            <a:endParaRPr lang="en-US" sz="2800" dirty="0"/>
          </a:p>
          <a:p>
            <a:pPr marL="0" indent="0">
              <a:buNone/>
            </a:pPr>
            <a:r>
              <a:rPr lang="en-US" dirty="0"/>
              <a:t>The final system is fully functional with a connected frontend and backend, persistent data storage, real-time updates, and analytics. It not only stores workouts but also processes and interprets them to provide useful feedback to the user</a:t>
            </a:r>
          </a:p>
        </p:txBody>
      </p:sp>
    </p:spTree>
    <p:extLst>
      <p:ext uri="{BB962C8B-B14F-4D97-AF65-F5344CB8AC3E}">
        <p14:creationId xmlns:p14="http://schemas.microsoft.com/office/powerpoint/2010/main" val="376421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8C467-D125-AFF2-D99B-B38BDA0B4D31}"/>
              </a:ext>
            </a:extLst>
          </p:cNvPr>
          <p:cNvSpPr>
            <a:spLocks noGrp="1"/>
          </p:cNvSpPr>
          <p:nvPr>
            <p:ph type="title"/>
          </p:nvPr>
        </p:nvSpPr>
        <p:spPr/>
        <p:txBody>
          <a:bodyPr>
            <a:normAutofit/>
          </a:bodyPr>
          <a:lstStyle/>
          <a:p>
            <a:r>
              <a:rPr lang="en-US" sz="4000" dirty="0"/>
              <a:t>Conclusion</a:t>
            </a:r>
          </a:p>
        </p:txBody>
      </p:sp>
      <p:sp>
        <p:nvSpPr>
          <p:cNvPr id="3" name="Content Placeholder 2">
            <a:extLst>
              <a:ext uri="{FF2B5EF4-FFF2-40B4-BE49-F238E27FC236}">
                <a16:creationId xmlns:a16="http://schemas.microsoft.com/office/drawing/2014/main" id="{4682A33D-B530-CBA0-BEB5-1978676C6CD8}"/>
              </a:ext>
            </a:extLst>
          </p:cNvPr>
          <p:cNvSpPr>
            <a:spLocks noGrp="1"/>
          </p:cNvSpPr>
          <p:nvPr>
            <p:ph idx="1"/>
          </p:nvPr>
        </p:nvSpPr>
        <p:spPr/>
        <p:txBody>
          <a:bodyPr>
            <a:normAutofit/>
          </a:bodyPr>
          <a:lstStyle/>
          <a:p>
            <a:r>
              <a:rPr lang="en-US" sz="2400" dirty="0"/>
              <a:t>Full-stack workout tracking system</a:t>
            </a:r>
          </a:p>
          <a:p>
            <a:r>
              <a:rPr lang="en-US" sz="2400" dirty="0"/>
              <a:t>Real-time analytics and insights</a:t>
            </a:r>
          </a:p>
          <a:p>
            <a:r>
              <a:rPr lang="en-US" sz="2400" dirty="0"/>
              <a:t>Intelligent classification system</a:t>
            </a:r>
          </a:p>
          <a:p>
            <a:r>
              <a:rPr lang="en-US" sz="2400" dirty="0"/>
              <a:t>progression tracking and data analysis</a:t>
            </a:r>
          </a:p>
          <a:p>
            <a:endParaRPr lang="en-US" sz="2400" dirty="0"/>
          </a:p>
          <a:p>
            <a:pPr marL="0" indent="0">
              <a:buNone/>
            </a:pPr>
            <a:endParaRPr lang="en-US" sz="2400" dirty="0"/>
          </a:p>
          <a:p>
            <a:pPr marL="0" indent="0">
              <a:buNone/>
            </a:pPr>
            <a:r>
              <a:rPr lang="en-US" dirty="0" err="1"/>
              <a:t>FitWise</a:t>
            </a:r>
            <a:r>
              <a:rPr lang="en-US" dirty="0"/>
              <a:t> demonstrates a full-stack system that turns workout tracking into a more intelligent and analytical experience that makes it easy for users to stay fit</a:t>
            </a:r>
          </a:p>
        </p:txBody>
      </p:sp>
    </p:spTree>
    <p:extLst>
      <p:ext uri="{BB962C8B-B14F-4D97-AF65-F5344CB8AC3E}">
        <p14:creationId xmlns:p14="http://schemas.microsoft.com/office/powerpoint/2010/main" val="1724428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D75EBE-F57B-DB65-9E42-821311F37DAD}"/>
              </a:ext>
            </a:extLst>
          </p:cNvPr>
          <p:cNvSpPr>
            <a:spLocks noGrp="1"/>
          </p:cNvSpPr>
          <p:nvPr>
            <p:ph type="title"/>
          </p:nvPr>
        </p:nvSpPr>
        <p:spPr>
          <a:xfrm>
            <a:off x="649016" y="893868"/>
            <a:ext cx="7845968" cy="5070264"/>
          </a:xfrm>
        </p:spPr>
        <p:txBody>
          <a:bodyPr>
            <a:normAutofit/>
          </a:bodyPr>
          <a:lstStyle/>
          <a:p>
            <a:pPr algn="ctr"/>
            <a:r>
              <a:rPr lang="en-US" sz="5400" b="1" dirty="0"/>
              <a:t>THE END</a:t>
            </a:r>
            <a:br>
              <a:rPr lang="en-US" sz="5400" b="1" dirty="0"/>
            </a:br>
            <a:br>
              <a:rPr lang="en-US" sz="5400" b="1" dirty="0"/>
            </a:br>
            <a:r>
              <a:rPr lang="en-US" sz="5400" b="1" dirty="0"/>
              <a:t>thank you</a:t>
            </a:r>
          </a:p>
        </p:txBody>
      </p:sp>
    </p:spTree>
    <p:extLst>
      <p:ext uri="{BB962C8B-B14F-4D97-AF65-F5344CB8AC3E}">
        <p14:creationId xmlns:p14="http://schemas.microsoft.com/office/powerpoint/2010/main" val="41196564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Emmanuel_Dairo FitWise Presentation</Template>
  <TotalTime>2252</TotalTime>
  <Words>764</Words>
  <Application>Microsoft Office PowerPoint</Application>
  <PresentationFormat>On-screen Show (4:3)</PresentationFormat>
  <Paragraphs>91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Century Gothic</vt:lpstr>
      <vt:lpstr>Mesh</vt:lpstr>
      <vt:lpstr>FitWise: Smart Workout Builder and Exercise Analytics</vt:lpstr>
      <vt:lpstr>What is FitWise?</vt:lpstr>
      <vt:lpstr>Tools and Technologies Used</vt:lpstr>
      <vt:lpstr>Implementation Techniques</vt:lpstr>
      <vt:lpstr>System Workflow</vt:lpstr>
      <vt:lpstr>Key Features</vt:lpstr>
      <vt:lpstr>Key Features</vt:lpstr>
      <vt:lpstr>Testing &amp; Validation</vt:lpstr>
      <vt:lpstr>System Status &amp; Results</vt:lpstr>
      <vt:lpstr>Conclusion</vt:lpstr>
      <vt:lpstr>THE END  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Dairo, Emmanuel O</dc:creator>
  <cp:keywords/>
  <dc:description>generated using python-pptx</dc:description>
  <cp:lastModifiedBy>Dairo, Emmanuel O</cp:lastModifiedBy>
  <cp:revision>12</cp:revision>
  <dcterms:created xsi:type="dcterms:W3CDTF">2026-02-10T12:22:58Z</dcterms:created>
  <dcterms:modified xsi:type="dcterms:W3CDTF">2026-04-14T17:02:17Z</dcterms:modified>
  <cp:category/>
</cp:coreProperties>
</file>